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8" r:id="rId2"/>
    <p:sldId id="281" r:id="rId3"/>
    <p:sldId id="290" r:id="rId4"/>
    <p:sldId id="293" r:id="rId5"/>
    <p:sldId id="299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33" autoAdjust="0"/>
  </p:normalViewPr>
  <p:slideViewPr>
    <p:cSldViewPr snapToGrid="0" snapToObjects="1">
      <p:cViewPr varScale="1">
        <p:scale>
          <a:sx n="78" d="100"/>
          <a:sy n="78" d="100"/>
        </p:scale>
        <p:origin x="850" y="1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PEXPRE123207/SentinelAI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hyperlink" Target="https://drive.google.com/file/d/1-iUS7IlDIlVSoowzJDl0LDapTj6m5vIY/view?usp=sharing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S0378-7788(02)00005-1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ergyplus.net/documentation" TargetMode="External"/><Relationship Id="rId5" Type="http://schemas.openxmlformats.org/officeDocument/2006/relationships/hyperlink" Target="https://www.ashrae.org/technical-resources/bookstore/standard-55-thermal-environmental-conditions-for-human-occupancy" TargetMode="External"/><Relationship Id="rId4" Type="http://schemas.openxmlformats.org/officeDocument/2006/relationships/hyperlink" Target="https://www.sciencedirect.com/science/article/pii/S037877880200005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1415369" y="223496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600" b="1" dirty="0" err="1">
                <a:solidFill>
                  <a:schemeClr val="tx1"/>
                </a:solidFill>
              </a:rPr>
              <a:t>SentinelAI</a:t>
            </a:r>
            <a:endParaRPr lang="en-IN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314633" y="944773"/>
            <a:ext cx="11661058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sz="2400" dirty="0"/>
              <a:t>AI-Powered Autonomous Smart Building Optimization Challenge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Artificial Intelligence / Smart Buildings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Name (Registered on portal):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Soumyadip Chakrabarti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ID: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23BAI1265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609600" y="209283"/>
            <a:ext cx="10972800" cy="1143000"/>
          </a:xfrm>
        </p:spPr>
        <p:txBody>
          <a:bodyPr/>
          <a:lstStyle/>
          <a:p>
            <a:pPr eaLnBrk="1" hangingPunct="1"/>
            <a:r>
              <a:rPr lang="en-IN" sz="3600" dirty="0" err="1"/>
              <a:t>SentinelAI</a:t>
            </a:r>
            <a:r>
              <a:rPr lang="en-IN" sz="3600" dirty="0"/>
              <a:t>: Autonomous AI-Powered Building Management System</a:t>
            </a:r>
            <a:endParaRPr lang="en-US" sz="3600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618645"/>
            <a:ext cx="12191999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3200" b="1" u="sng" dirty="0">
                <a:latin typeface="Arial" pitchFamily="34" charset="0"/>
                <a:cs typeface="Arial" pitchFamily="34" charset="0"/>
              </a:rPr>
              <a:t>Proposed Solution</a:t>
            </a:r>
          </a:p>
          <a:p>
            <a:pPr algn="ctr"/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2B4908-3251-1A54-2DF1-4A073EADA2AE}"/>
              </a:ext>
            </a:extLst>
          </p:cNvPr>
          <p:cNvSpPr txBox="1"/>
          <p:nvPr/>
        </p:nvSpPr>
        <p:spPr>
          <a:xfrm>
            <a:off x="546791" y="2352166"/>
            <a:ext cx="521491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How </a:t>
            </a:r>
            <a:r>
              <a:rPr lang="en-IN" sz="2000" b="1" dirty="0" err="1"/>
              <a:t>SentinelAI</a:t>
            </a:r>
            <a:r>
              <a:rPr lang="en-IN" sz="2000" b="1" dirty="0"/>
              <a:t> Works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/>
              <a:t>Collects live telemetry from </a:t>
            </a:r>
            <a:r>
              <a:rPr lang="en-IN" sz="2000" dirty="0" err="1"/>
              <a:t>EnergyPlus</a:t>
            </a:r>
            <a:r>
              <a:rPr lang="en-IN" sz="2000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/>
              <a:t>Builds a compact building-state context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/>
              <a:t>Agent Council (LLM) optimizes: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000" dirty="0"/>
              <a:t>Energy Consumption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000" dirty="0"/>
              <a:t>Thermal Comfort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000" dirty="0"/>
              <a:t>Carbon Emissions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000" dirty="0"/>
              <a:t>Equipment Health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/>
              <a:t>Safety Validator verifies all AI decisions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/>
              <a:t>MCP Tool Server executes validated control actions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/>
              <a:t>Dashboard visualizes system performance and Digital Twin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B5645E-493C-339E-FF2C-2A766EB36700}"/>
              </a:ext>
            </a:extLst>
          </p:cNvPr>
          <p:cNvSpPr txBox="1"/>
          <p:nvPr/>
        </p:nvSpPr>
        <p:spPr>
          <a:xfrm>
            <a:off x="6430298" y="2352166"/>
            <a:ext cx="521491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Innovation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Autonomous closed-loop AI control using </a:t>
            </a:r>
            <a:r>
              <a:rPr lang="en-IN" sz="2000" dirty="0" err="1"/>
              <a:t>EnergyPlus</a:t>
            </a:r>
            <a:r>
              <a:rPr lang="en-IN" sz="20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Open-Source LLM-powered Agent Council.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Model Context Protocol(MCP) tool execution.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Safety Validator with retry and Last-Known-Good fallback.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Rolling Context Builder for efficient LLM prompting.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Human-in-the-Loop approval for critical actions. Interactive Dashboard with Digital Twin visualization.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Baseline vs AI performance comparison with measurable energy savings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2AE3FA-B81C-68E0-A005-CA0CA4A6ED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244603"/>
            <a:ext cx="5384800" cy="4525963"/>
          </a:xfrm>
        </p:spPr>
        <p:txBody>
          <a:bodyPr/>
          <a:lstStyle/>
          <a:p>
            <a:pPr marL="0" indent="0" algn="ctr">
              <a:buNone/>
            </a:pPr>
            <a:r>
              <a:rPr lang="en-IN" b="1" dirty="0"/>
              <a:t>Technologies Used</a:t>
            </a:r>
          </a:p>
          <a:p>
            <a:pPr marL="0" indent="0">
              <a:buNone/>
            </a:pPr>
            <a:r>
              <a:rPr lang="en-IN" sz="1800" b="1" dirty="0"/>
              <a:t>Simulation &amp; AI</a:t>
            </a:r>
          </a:p>
          <a:p>
            <a:r>
              <a:rPr lang="en-IN" sz="1800" dirty="0" err="1"/>
              <a:t>EnergyPlus</a:t>
            </a:r>
            <a:r>
              <a:rPr lang="en-IN" sz="1800" dirty="0"/>
              <a:t> </a:t>
            </a:r>
          </a:p>
          <a:p>
            <a:r>
              <a:rPr lang="en-IN" sz="1800" dirty="0" err="1"/>
              <a:t>PyEnergyPlus</a:t>
            </a:r>
            <a:r>
              <a:rPr lang="en-IN" sz="1800" dirty="0"/>
              <a:t> API </a:t>
            </a:r>
          </a:p>
          <a:p>
            <a:r>
              <a:rPr lang="en-IN" sz="1800" dirty="0"/>
              <a:t>Open-Source LLM (via </a:t>
            </a:r>
            <a:r>
              <a:rPr lang="en-IN" sz="1800" dirty="0" err="1"/>
              <a:t>Ollama</a:t>
            </a:r>
            <a:r>
              <a:rPr lang="en-IN" sz="1800" dirty="0"/>
              <a:t> API) </a:t>
            </a:r>
          </a:p>
          <a:p>
            <a:r>
              <a:rPr lang="en-IN" sz="1800" dirty="0"/>
              <a:t>Model Context Protocol (MCP) </a:t>
            </a:r>
          </a:p>
          <a:p>
            <a:pPr marL="0" indent="0">
              <a:buNone/>
            </a:pPr>
            <a:r>
              <a:rPr lang="en-IN" sz="1800" b="1" dirty="0"/>
              <a:t>Backend</a:t>
            </a:r>
          </a:p>
          <a:p>
            <a:r>
              <a:rPr lang="en-IN" sz="1800" dirty="0"/>
              <a:t>Python </a:t>
            </a:r>
          </a:p>
          <a:p>
            <a:r>
              <a:rPr lang="en-IN" sz="1800" dirty="0" err="1"/>
              <a:t>FastAPI</a:t>
            </a:r>
            <a:r>
              <a:rPr lang="en-IN" sz="1800" dirty="0"/>
              <a:t> </a:t>
            </a:r>
          </a:p>
          <a:p>
            <a:r>
              <a:rPr lang="en-IN" sz="1800" dirty="0"/>
              <a:t>SQLite </a:t>
            </a:r>
          </a:p>
          <a:p>
            <a:pPr marL="0" indent="0">
              <a:buNone/>
            </a:pPr>
            <a:r>
              <a:rPr lang="en-IN" sz="1800" b="1" dirty="0"/>
              <a:t>Frontend</a:t>
            </a:r>
          </a:p>
          <a:p>
            <a:r>
              <a:rPr lang="en-IN" sz="1800" dirty="0"/>
              <a:t>HTML/CSS/JavaScript </a:t>
            </a:r>
          </a:p>
          <a:p>
            <a:r>
              <a:rPr lang="en-IN" sz="1800" dirty="0" err="1"/>
              <a:t>Plotly</a:t>
            </a:r>
            <a:r>
              <a:rPr lang="en-IN" sz="1800" dirty="0"/>
              <a:t> </a:t>
            </a:r>
          </a:p>
          <a:p>
            <a:r>
              <a:rPr lang="en-IN" sz="1800" dirty="0"/>
              <a:t>SVG Digital Twin </a:t>
            </a:r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B8002-E935-40D9-4880-524049BD7D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2" y="1244603"/>
            <a:ext cx="5384800" cy="4525963"/>
          </a:xfrm>
        </p:spPr>
        <p:txBody>
          <a:bodyPr/>
          <a:lstStyle/>
          <a:p>
            <a:pPr marL="0" indent="0" algn="ctr">
              <a:buNone/>
            </a:pPr>
            <a:r>
              <a:rPr lang="en-IN" b="1" dirty="0"/>
              <a:t>Architecture</a:t>
            </a:r>
          </a:p>
          <a:p>
            <a:pPr marL="0" indent="0" algn="ctr">
              <a:buNone/>
            </a:pPr>
            <a:endParaRPr lang="en-IN" b="1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A37BCD-ED84-E38E-113F-A1D209514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700" y="1890715"/>
            <a:ext cx="6972300" cy="4648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3F64FD-7DA2-13FF-098C-218D16013F20}"/>
              </a:ext>
            </a:extLst>
          </p:cNvPr>
          <p:cNvSpPr txBox="1"/>
          <p:nvPr/>
        </p:nvSpPr>
        <p:spPr>
          <a:xfrm>
            <a:off x="51541" y="1366897"/>
            <a:ext cx="3926840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Feasibility</a:t>
            </a:r>
          </a:p>
          <a:p>
            <a:pPr algn="ctr"/>
            <a:endParaRPr lang="en-IN" sz="20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Industry-Standard Foundation:</a:t>
            </a:r>
            <a:r>
              <a:rPr lang="en-IN" dirty="0"/>
              <a:t> Built on </a:t>
            </a:r>
            <a:r>
              <a:rPr lang="en-IN" dirty="0" err="1"/>
              <a:t>EnergyPlus</a:t>
            </a:r>
            <a:r>
              <a:rPr lang="en-IN" dirty="0"/>
              <a:t>, Python, </a:t>
            </a:r>
            <a:r>
              <a:rPr lang="en-IN" dirty="0" err="1"/>
              <a:t>FastAPI</a:t>
            </a:r>
            <a:r>
              <a:rPr lang="en-IN" dirty="0"/>
              <a:t>, and open-source LLMs.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Real-Time Closed-Loop Control:</a:t>
            </a:r>
            <a:r>
              <a:rPr lang="en-IN" dirty="0"/>
              <a:t> Continuously monitors building telemetry and applies validated control actions.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Modular &amp; Scalable:</a:t>
            </a:r>
            <a:r>
              <a:rPr lang="en-IN" dirty="0"/>
              <a:t> Components (AI engine, dashboard, control layer) can be deployed independently and extended to larger buildings.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Cost-Effective:</a:t>
            </a:r>
            <a:r>
              <a:rPr lang="en-IN" dirty="0"/>
              <a:t> Uses open-source technologies, reducing deployment and licensing costs.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DDAD6A-9FD5-2289-AA79-8EF7D987F591}"/>
              </a:ext>
            </a:extLst>
          </p:cNvPr>
          <p:cNvSpPr txBox="1"/>
          <p:nvPr/>
        </p:nvSpPr>
        <p:spPr>
          <a:xfrm>
            <a:off x="4132580" y="1352034"/>
            <a:ext cx="392684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Potential Challenges and Risks</a:t>
            </a:r>
          </a:p>
          <a:p>
            <a:endParaRPr lang="en-IN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AI-generated unsafe control actions.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Large </a:t>
            </a:r>
            <a:r>
              <a:rPr lang="en-IN" dirty="0" err="1"/>
              <a:t>EnergyPlus</a:t>
            </a:r>
            <a:r>
              <a:rPr lang="en-IN" dirty="0"/>
              <a:t> simulation logs.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LLM response latency.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Balancing energy efficiency with occupant comfort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078D8B-B278-1D53-6747-D0721E79669F}"/>
              </a:ext>
            </a:extLst>
          </p:cNvPr>
          <p:cNvSpPr txBox="1"/>
          <p:nvPr/>
        </p:nvSpPr>
        <p:spPr>
          <a:xfrm>
            <a:off x="8196580" y="1366897"/>
            <a:ext cx="392684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Strategies</a:t>
            </a:r>
          </a:p>
          <a:p>
            <a:endParaRPr lang="en-IN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Safety Validator</a:t>
            </a:r>
            <a:r>
              <a:rPr lang="en-IN" dirty="0"/>
              <a:t> checks every AI-generated control action before execution.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Retry &amp; Last-Known-Good Fallback</a:t>
            </a:r>
            <a:r>
              <a:rPr lang="en-IN" dirty="0"/>
              <a:t> ensures reliable operation if AI output is invalid.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Rolling Context Builder</a:t>
            </a:r>
            <a:r>
              <a:rPr lang="en-IN" dirty="0"/>
              <a:t> summarizes telemetry, reducing prompt size and improving response time.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MCP-based modular architecture</a:t>
            </a:r>
            <a:r>
              <a:rPr lang="en-IN" dirty="0"/>
              <a:t> enables integration with existing Building Management Systems and simplifies future expansion.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28433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ARTIFACTS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04D6C7-6F2C-11AB-4FED-8E72F5F67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3841" y="1129171"/>
            <a:ext cx="3979121" cy="28854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82A8C4-BECF-48F1-D29B-F70250A8D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962" y="1097281"/>
            <a:ext cx="4159038" cy="28854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754748-2E81-9143-9C3C-E0E49CFCDC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8360" y="3982721"/>
            <a:ext cx="5950162" cy="28854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9C005E4-8552-8BC8-7AF2-B953840F7F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1802" y="3979863"/>
            <a:ext cx="6258560" cy="28882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3EC41F-C1D1-433C-F357-C010F650B5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" y="1161062"/>
            <a:ext cx="4045478" cy="282165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CB35C82-3F00-388A-B916-04516FA17B24}"/>
              </a:ext>
            </a:extLst>
          </p:cNvPr>
          <p:cNvSpPr txBox="1"/>
          <p:nvPr/>
        </p:nvSpPr>
        <p:spPr>
          <a:xfrm>
            <a:off x="84847" y="674001"/>
            <a:ext cx="595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GITHUB LINK: </a:t>
            </a:r>
            <a:r>
              <a:rPr lang="en-IN" dirty="0">
                <a:hlinkClick r:id="rId8"/>
              </a:rPr>
              <a:t>https://github.com/APEXPRE123207/SentinelAI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8D6DBD-1E79-2D47-F416-1278CF45AA78}"/>
              </a:ext>
            </a:extLst>
          </p:cNvPr>
          <p:cNvSpPr txBox="1"/>
          <p:nvPr/>
        </p:nvSpPr>
        <p:spPr>
          <a:xfrm>
            <a:off x="7049729" y="674001"/>
            <a:ext cx="4739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VIDEO LINK: </a:t>
            </a:r>
            <a:r>
              <a:rPr lang="en-IN" dirty="0">
                <a:hlinkClick r:id="rId9"/>
              </a:rPr>
              <a:t>Google drive</a:t>
            </a:r>
            <a:r>
              <a:rPr lang="en-IN" dirty="0"/>
              <a:t> (Video also in </a:t>
            </a:r>
            <a:r>
              <a:rPr lang="en-IN" dirty="0" err="1"/>
              <a:t>github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97840" y="1433823"/>
            <a:ext cx="11236960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+mn-lt"/>
                <a:cs typeface="Arial" pitchFamily="34" charset="0"/>
              </a:rPr>
              <a:t>Richard J. de Dear, Gail S. Brager, Thermal comfort in naturally ventilated buildings: revisions to ASHRAE Standard 55, Energy and Buildings, Volume 34, Issue 6, 2002, Pages 549-561, ISSN 0378-7788, </a:t>
            </a:r>
            <a:r>
              <a:rPr lang="en-US" dirty="0">
                <a:solidFill>
                  <a:prstClr val="black"/>
                </a:solidFill>
                <a:latin typeface="+mn-lt"/>
                <a:cs typeface="Arial" pitchFamily="34" charset="0"/>
                <a:hlinkClick r:id="rId3"/>
              </a:rPr>
              <a:t>https://doi.org/10.1016/S0378-7788(02)00005-1</a:t>
            </a:r>
            <a:r>
              <a:rPr lang="en-US" dirty="0">
                <a:solidFill>
                  <a:prstClr val="black"/>
                </a:solidFill>
                <a:latin typeface="+mn-lt"/>
                <a:cs typeface="Arial" pitchFamily="34" charset="0"/>
              </a:rPr>
              <a:t>. (</a:t>
            </a:r>
            <a:r>
              <a:rPr lang="en-US" dirty="0">
                <a:solidFill>
                  <a:prstClr val="black"/>
                </a:solidFill>
                <a:latin typeface="+mn-lt"/>
                <a:cs typeface="Arial" pitchFamily="34" charset="0"/>
                <a:hlinkClick r:id="rId4"/>
              </a:rPr>
              <a:t>https://www.sciencedirect.com/science/article/pii/S0378778802000051</a:t>
            </a:r>
            <a:r>
              <a:rPr lang="en-US" dirty="0">
                <a:solidFill>
                  <a:prstClr val="black"/>
                </a:solidFill>
                <a:latin typeface="+mn-lt"/>
                <a:cs typeface="Arial" pitchFamily="34" charset="0"/>
              </a:rPr>
              <a:t>)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ANSI/ASHRAE Standard 55-2023</a:t>
            </a:r>
            <a:br>
              <a:rPr lang="en-IN" dirty="0"/>
            </a:br>
            <a:r>
              <a:rPr lang="en-IN" i="1" dirty="0"/>
              <a:t>Thermal Environmental Conditions for Human Occupancy. </a:t>
            </a:r>
            <a:r>
              <a:rPr lang="en-IN" dirty="0">
                <a:hlinkClick r:id="rId5"/>
              </a:rPr>
              <a:t>(https://www.ashrae.org/technical-resources/bookstore/standard-55-thermal-environmental-conditions-for-human-occupancy)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U.S. Department of Energy – </a:t>
            </a:r>
            <a:r>
              <a:rPr lang="en-IN" b="1" dirty="0" err="1"/>
              <a:t>EnergyPlus</a:t>
            </a:r>
            <a:r>
              <a:rPr lang="en-IN" b="1" dirty="0"/>
              <a:t> Documentation</a:t>
            </a:r>
            <a:br>
              <a:rPr lang="en-IN" dirty="0"/>
            </a:br>
            <a:r>
              <a:rPr lang="en-IN" dirty="0">
                <a:hlinkClick r:id="rId6"/>
              </a:rPr>
              <a:t>https://energyplus.net/documentation</a:t>
            </a:r>
            <a:endParaRPr lang="en-IN" dirty="0"/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7754</TotalTime>
  <Words>521</Words>
  <Application>Microsoft Office PowerPoint</Application>
  <PresentationFormat>Widescreen</PresentationFormat>
  <Paragraphs>90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SentinelAI: Autonomous AI-Powered Building Management System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cp:keywords/>
  <dc:description/>
  <cp:lastModifiedBy>Soumyadip Chakrabarti</cp:lastModifiedBy>
  <cp:revision>156</cp:revision>
  <dcterms:created xsi:type="dcterms:W3CDTF">2013-12-12T18:46:50Z</dcterms:created>
  <dcterms:modified xsi:type="dcterms:W3CDTF">2026-07-26T18:03:16Z</dcterms:modified>
  <cp:category/>
</cp:coreProperties>
</file>